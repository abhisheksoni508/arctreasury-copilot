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ArcTreasury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A78BFA"/>
                </a:solidFill>
                <a:latin typeface="Calibri"/>
              </a:defRPr>
            </a:pPr>
            <a:r>
              <a:t>AI-Powered Global Payouts &amp; Treasury System with USDC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Automated policy-based payouts · Multi-chain USDC settlement · RWA-backed treasury reserves</a:t>
            </a:r>
            <a:br/>
            <a:r>
              <a:t>Circle Programmable Wallets · CCTP V2 Cross-Chain Bridge · Circle Gateway Fiat On/Off Ramp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5303520"/>
            <a:ext cx="393192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5349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🏆  Build Global Payouts &amp; Treasury Systems with USDC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Supported by Arc  ·  Circle Developer Tools  · 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 &amp; Our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43F5E"/>
                </a:solidFill>
                <a:latin typeface="Calibri"/>
              </a:defRPr>
            </a:pPr>
            <a:r>
              <a:t>⚠️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❌  Manual USDC payouts are slow, error-prone, and unscalable</a:t>
            </a:r>
          </a:p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❌  No built-in risk controls → fraud &amp; compliance gaps</a:t>
            </a:r>
          </a:p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❌  Idle treasury USDC earns zero yield</a:t>
            </a:r>
          </a:p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❌  Cross-chain movement requires manual bridge interactions</a:t>
            </a:r>
          </a:p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❌  No unified dashboard for multi-chain settlement</a:t>
            </a:r>
          </a:p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❌  Fiat on/off ramp is a separate, disconnected 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✅  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✅  AI Copilot Agent automates entire payout pipeline</a:t>
            </a:r>
          </a:p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✅  5-rule policy engine with risk scoring &amp; audit trails</a:t>
            </a:r>
          </a:p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✅  RWA treasury earns 4.8–7.5% APY on idle USDC</a:t>
            </a:r>
          </a:p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✅  CCTP V2 bridge routes across 7 chains (42 routes)</a:t>
            </a:r>
          </a:p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✅  Real-time dashboard with 7 pages &amp; 43 API endpoints</a:t>
            </a:r>
          </a:p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✅  Circle Gateway fiat on/off ramp (Wire/ACH/SEPA)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Bounty Requirements — All Covered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10972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Policy-Based Payouts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53312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5-rule policy engine with risk scoring (0-100)</a:t>
            </a:r>
            <a:br/>
            <a:r>
              <a:t>→ 5 decision states: APPROVED, QUEUED, REVIEW, HELD, REJECTED</a:t>
            </a:r>
            <a:br/>
            <a:r>
              <a:t>→ Amount limits, chain validation, blocklist, velocity, duplicates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560320"/>
            <a:ext cx="10972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877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Agent-Driven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404872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Autonomous Copilot Agent with 3 strategies</a:t>
            </a:r>
            <a:br/>
            <a:r>
              <a:t>→ Conservative / Balanced / Aggressive</a:t>
            </a:r>
            <a:br/>
            <a:r>
              <a:t>→ One-click AutoPilot: Seed → Policy → Review → Execute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611880"/>
            <a:ext cx="10972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393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Multi-Chain Settlement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456432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7 chains: ETH, Polygon, Arbitrum, Solana, Avalanche, Base, Arc</a:t>
            </a:r>
            <a:br/>
            <a:r>
              <a:t>→ 42 CCTP V2 bridge routes with burn → attest → mint</a:t>
            </a:r>
            <a:br/>
            <a:r>
              <a:t>→ Payout legs model with independent retry per leg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34839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663439"/>
            <a:ext cx="10972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90871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5262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RWA-Backed Treasury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507991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4 tokenized assets: T-Bills 5.25%, MMF 4.8%, Corp Bonds 6.1%, RE 7.5%</a:t>
            </a:r>
            <a:br/>
            <a:r>
              <a:t>→ Health scoring: Liquidity + Diversification + Yield composite</a:t>
            </a:r>
            <a:br/>
            <a:r>
              <a:t>→ Auto-rebalance to maintain 40% reserve ratio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5715000"/>
            <a:ext cx="1097280" cy="4114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424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COVERED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Circle Gateway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559552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Fiat on/off ramp: Wire, ACH, SEPA payment rails</a:t>
            </a:r>
            <a:br/>
            <a:r>
              <a:t>→ Multi-currency: USD, EUR, GBP, SGD with FX conversion</a:t>
            </a:r>
            <a:br/>
            <a:r>
              <a:t>→ Deposit intents + Withdrawal intents with fee breakdown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Frontend — React + Vite + TypeScript + Tailwind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828800"/>
            <a:ext cx="128016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562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828800"/>
            <a:ext cx="128016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8562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1828800"/>
            <a:ext cx="128016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8562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Execution Monitor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1828800"/>
            <a:ext cx="128016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8562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Copilot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828800"/>
            <a:ext cx="128016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8562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Treasury &amp; RWA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828800"/>
            <a:ext cx="128016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8562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Audit 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828800"/>
            <a:ext cx="128016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8562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77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▼  REST API (43 endpoints) 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83464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83464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2971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Policy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37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 rules, risk scoring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283464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2834640"/>
            <a:ext cx="3474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2971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Execution Orchestrator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3337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Multi-leg, retry logic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599" y="283464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599" y="283464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19" y="2971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Adapter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9" y="3337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Mock | Circle | Arc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02336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02336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Treasury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526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 strategies, auto-loop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59" y="402336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80559" y="4023360"/>
            <a:ext cx="3474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79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CCTP Bridge Router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79" y="4526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 chains, 42 routes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599" y="402336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599" y="402336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19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Circle Gateway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19" y="4526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Wire/ACH/SEPA + FX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21208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52120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349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RWA Treasury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715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 asset classes, yield accrual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80559" y="521208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80559" y="5212080"/>
            <a:ext cx="347472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79" y="5349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Audit Logger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79" y="5715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Every state transition logged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599" y="521208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29599" y="5212080"/>
            <a:ext cx="347472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3919" y="5349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SQLite (WAL)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19" y="5715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9 tables, zero-config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FastAPI Backend (Python)  ·  aiosqlite  ·  Circle W3S SDK  ·  CCTP V2  ·  Circle Gateway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Policy Engine — 5-Rule Risk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Amount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Flags high-value payouts exceeding configurable threshold ($25K default)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Score: 0–55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68580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7744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048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Chain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Blocks unsupported chains; validates against 7 supported networks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Score: 0–100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08960"/>
            <a:ext cx="68580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324612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735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Recipient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Pattern-based scoring: blocklist, known-good, new recipients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91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Score: 0–90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77639"/>
            <a:ext cx="68580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4114799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42231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0690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Velocity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3891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Flags recipients with too many recent payouts (frequency cap)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1605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Score: 0–30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46320"/>
            <a:ext cx="68580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498348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0109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Duplicate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257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Catches duplicate addresses within the same batch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029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Score: 0–20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Risk Score → Decision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2011680"/>
            <a:ext cx="32004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0" y="2121408"/>
            <a:ext cx="91440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0–24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→  APPROVED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2697480"/>
            <a:ext cx="32004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12480" y="2807208"/>
            <a:ext cx="91440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25–49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2834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→  QUEUED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3383280"/>
            <a:ext cx="32004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12480" y="3493008"/>
            <a:ext cx="91440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50–74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3520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→  REVIEW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4069080"/>
            <a:ext cx="32004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12480" y="4178808"/>
            <a:ext cx="91440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4206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75–89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4206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→  HELD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4754880"/>
            <a:ext cx="32004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412480" y="4864608"/>
            <a:ext cx="914400" cy="3200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4892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90+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4892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3F5E"/>
                </a:solidFill>
                <a:latin typeface="Calibri"/>
              </a:defRPr>
            </a:pPr>
            <a:r>
              <a:t>→  REJECTED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669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📋 Every decision logged to audit trail with full rule breakdown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Treasury Copilot Agent — Autonomous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03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5603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Step 1: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Calibri"/>
              </a:defRPr>
            </a:pPr>
            <a:r>
              <a:t>Create batch with</a:t>
            </a:r>
            <a:br/>
            <a:r>
              <a:t>payout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280160"/>
            <a:ext cx="25603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1280160"/>
            <a:ext cx="2560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Step 2: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Calibri"/>
              </a:defRPr>
            </a:pPr>
            <a:r>
              <a:t>Run 5-rule</a:t>
            </a:r>
            <a:br/>
            <a:r>
              <a:t>risk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280160"/>
            <a:ext cx="25603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28016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Step 3: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Calibri"/>
              </a:defRPr>
            </a:pPr>
            <a:r>
              <a:t>Auto-approve based</a:t>
            </a:r>
            <a:br/>
            <a:r>
              <a:t>on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280160"/>
            <a:ext cx="25603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128016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Step 4: EXECUTE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Calibri"/>
              </a:defRPr>
            </a:pPr>
            <a:r>
              <a:t>Process via</a:t>
            </a:r>
            <a:br/>
            <a:r>
              <a:t>adapter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 Strategy Presets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49039"/>
            <a:ext cx="347472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749039"/>
            <a:ext cx="3474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🛡️  Conservative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891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Auto-approve only QUEUED items</a:t>
            </a:r>
            <a:br/>
            <a:r>
              <a:t>Risk threshold: &lt; 30</a:t>
            </a:r>
            <a:br/>
            <a:r>
              <a:t>Max auto-amount: $5,000</a:t>
            </a:r>
            <a:br/>
            <a:r>
              <a:t>Loop interval: 30s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3749039"/>
            <a:ext cx="347472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59" y="3749039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79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⚖️  Balanced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79" y="43891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Auto-approve QUEUED + REVIEW</a:t>
            </a:r>
            <a:br/>
            <a:r>
              <a:t>Risk threshold: &lt; 50</a:t>
            </a:r>
            <a:br/>
            <a:r>
              <a:t>Max auto-amount: $15,000</a:t>
            </a:r>
            <a:br/>
            <a:r>
              <a:t>Loop interval: 15s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599" y="3749039"/>
            <a:ext cx="347472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599" y="3749039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19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🔥  Aggressive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43891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Auto-approve QUEUED + REVIEW + HELD</a:t>
            </a:r>
            <a:br/>
            <a:r>
              <a:t>Risk threshold: &lt; 75</a:t>
            </a:r>
            <a:br/>
            <a:r>
              <a:t>Max auto-amount: $50,000</a:t>
            </a:r>
            <a:br/>
            <a:r>
              <a:t>Loop interval: 8s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Multi-Chain Settlement — CCTP V2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4630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Ethereum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Domain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Calibri"/>
              </a:defRPr>
            </a:pPr>
            <a:r>
              <a:t>ETH-SEPOLIA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280160"/>
            <a:ext cx="14630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371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Avalanche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Domain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011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Calibri"/>
              </a:defRPr>
            </a:pPr>
            <a:r>
              <a:t>AVAX-FUJI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0" y="1280160"/>
            <a:ext cx="14630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371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Arbitrum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Domain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011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Calibri"/>
              </a:defRPr>
            </a:pPr>
            <a:r>
              <a:t>ARB-SEPOLIA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1280160"/>
            <a:ext cx="14630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1371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Domain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011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Calibri"/>
              </a:defRPr>
            </a:pPr>
            <a:r>
              <a:t>BASE-SEPOLIA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1280160"/>
            <a:ext cx="14630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371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Polygon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Domain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011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Calibri"/>
              </a:defRPr>
            </a:pPr>
            <a:r>
              <a:t>MATIC-AMOY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280160"/>
            <a:ext cx="14630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1371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Domain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011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Calibri"/>
              </a:defRPr>
            </a:pPr>
            <a:r>
              <a:t>SOL-DEVNET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32720" y="1280160"/>
            <a:ext cx="1463040" cy="10972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1371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Arc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Domain 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2011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Calibri"/>
              </a:defRPr>
            </a:pPr>
            <a:r>
              <a:t>ARC-TESTNET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CCTP Bridge Flow: Burn → Attest → Mint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291840"/>
            <a:ext cx="34747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291840"/>
            <a:ext cx="347472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  <a:latin typeface="Calibri"/>
              </a:defRPr>
            </a:pPr>
            <a:r>
              <a:t>🔥 BURN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3840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Burns USDC on source chain</a:t>
            </a:r>
            <a:br/>
            <a:r>
              <a:t>via CCTP TokenMessenger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3291840"/>
            <a:ext cx="34747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63440" y="329184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🔐 ATTEST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3840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Circle attestation service</a:t>
            </a:r>
            <a:br/>
            <a:r>
              <a:t>verifies the burn event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3291840"/>
            <a:ext cx="34747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329184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💰 MINT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3840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Mints USDC on destination</a:t>
            </a:r>
            <a:br/>
            <a:r>
              <a:t>chain via MessageTransmitter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937760"/>
            <a:ext cx="25603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074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Bridge Routes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0" y="4937760"/>
            <a:ext cx="25603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5074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  <a:latin typeface="Calibri"/>
              </a:defRPr>
            </a:pPr>
            <a:r>
              <a:t>$0.25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Arc Bridge Fee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0" y="4937760"/>
            <a:ext cx="25603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5074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Arc Bridge Time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09760" y="4937760"/>
            <a:ext cx="25603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760" y="5074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Supported Chains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RWA-Backed Treasury — Earning Yield on Idle USDC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🏛️  US Treasury Bill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TBILL-6M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18288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5.25% APY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Risk: AAA  ·  $1,000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Category: Gov Bond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188720"/>
            <a:ext cx="26517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188720"/>
            <a:ext cx="26517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💰  USDC Money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MMF-USDC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2194560"/>
            <a:ext cx="1828800" cy="640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2677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4.80% APY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Risk: AA+  ·  $100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291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Category: Money Market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188720"/>
            <a:ext cx="26517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🏢  Corporate Bonds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CORP-BOND-IG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2194560"/>
            <a:ext cx="182880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2677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6.10% APY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17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Risk: A  ·  $5,000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91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Category: Corp Bond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1188720"/>
            <a:ext cx="26517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8280" y="118872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🏠  Real Estate Fund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RWA-RE-FUND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64040" y="219456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4040" y="22677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7.50% APY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017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Risk: BBB+  ·  $10,000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291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Category: Real Estate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Treasury Health Scoring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754880"/>
            <a:ext cx="26517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754880"/>
            <a:ext cx="26517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💧 Liquidity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257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Reserve ratio ≥ 40% target</a:t>
            </a:r>
            <a:br/>
            <a:r>
              <a:t>Liquid USDC / Total AUM</a:t>
            </a:r>
            <a:br/>
            <a:r>
              <a:t>Color-coded status bar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7560" y="4754880"/>
            <a:ext cx="26517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37560" y="475488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4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📊 Diversification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5257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Herfindahl-Hirschman Index</a:t>
            </a:r>
            <a:br/>
            <a:r>
              <a:t>Across asset categories</a:t>
            </a:r>
            <a:br/>
            <a:r>
              <a:t>Higher spread = better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754880"/>
            <a:ext cx="26517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475488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📈 Yield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257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Weighted average APY</a:t>
            </a:r>
            <a:br/>
            <a:r>
              <a:t>Across total AUM</a:t>
            </a:r>
            <a:br/>
            <a:r>
              <a:t>Optimized allocation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98280" y="4754880"/>
            <a:ext cx="26517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98280" y="475488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🎯 Composite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5257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A / B / C / D grade</a:t>
            </a:r>
            <a:br/>
            <a:r>
              <a:t>Weighted combination of all 3</a:t>
            </a:r>
            <a:br/>
            <a:r>
              <a:t>Drives auto-rebalance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Circle Integration — Gateway &amp; Real On-Chain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💱  Circle Gateway — Fiat On/Off Ramp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Wire Transfer: USD/EUR/GBP/SGD  ·  $100 min  ·  0.1% fee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ACH Transfer: USD only  ·  $10 min  ·  Free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SEPA Transfer: EUR only  ·  €10 min  · 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FX Conversion (multi-currency → USDC)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EUR × 1.08 → USD → USDC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GBP × 1.27 → USD → USDC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SGD × 0.74 → USD → USDC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Live preview before deposit/withdrawal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On-Ramp: Fiat → USDC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754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Off-Ramp: USDC → Fiat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Bank deposit → Circle custodial → Mint USDC → Treasury wallet</a:t>
            </a:r>
            <a:br/>
            <a:r>
              <a:t>Treasury USDC → Burn → Circle initiates wire/ACH → Bank 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371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⚡  Real On-Chain Execution 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Circle Programmable Wallets on ARC-TESTNET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✅  4 real USDC transfers completed on-chain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✅  Wallet: e8fd7df0-1df7-5ded-82b4-...78e47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✅  Funded with 20 USDC → fully depleted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✅  Transaction hashes verifiable on-chain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✅  Adapter auto-detects API key type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3 Adapter Modes: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🟢  Mock — deterministic demo outcomes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🔵  Circle — real W3S Programmable Wallets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🟣  Arc — Arc-native testnet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394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alibri"/>
              </a:defRPr>
            </a:pPr>
            <a:r>
              <a:t>All simulated items clearly labeled with</a:t>
            </a:r>
            <a:br/>
            <a:r>
              <a:t>amber "SIMULATED" badge in the 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5603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3AED"/>
                </a:solidFill>
                <a:latin typeface="Calibri"/>
              </a:defRPr>
            </a:pPr>
            <a: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API</a:t>
            </a:r>
            <a:br/>
            <a:r>
              <a:t>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188720"/>
            <a:ext cx="25603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463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Database</a:t>
            </a:r>
            <a:br/>
            <a:r>
              <a:t>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188720"/>
            <a:ext cx="25603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Frontend</a:t>
            </a:r>
            <a:br/>
            <a:r>
              <a:t>Pages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188720"/>
            <a:ext cx="25603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463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Policy</a:t>
            </a:r>
            <a:br/>
            <a:r>
              <a:t>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25603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43F5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Agent</a:t>
            </a:r>
            <a:br/>
            <a:r>
              <a:t>Strategies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3383280"/>
            <a:ext cx="25603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657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78BFA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Bridge</a:t>
            </a:r>
            <a:br/>
            <a:r>
              <a:t>Routes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383280"/>
            <a:ext cx="25603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657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Supported</a:t>
            </a:r>
            <a:br/>
            <a:r>
              <a:t>Chains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72600" y="3383280"/>
            <a:ext cx="25603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3657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RWA Asset</a:t>
            </a:r>
            <a:br/>
            <a:r>
              <a:t>Classes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6126480"/>
            <a:ext cx="105156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1539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74520" y="6126480"/>
            <a:ext cx="105156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74520" y="61539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0" y="6126480"/>
            <a:ext cx="105156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61539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6126480"/>
            <a:ext cx="105156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60520" y="61539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Tailwind CSS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03520" y="6126480"/>
            <a:ext cx="105156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0" y="61539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Vite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46520" y="6126480"/>
            <a:ext cx="105156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61539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SQLite WAL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9520" y="6126480"/>
            <a:ext cx="105156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0" y="61539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Circle W3S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6126480"/>
            <a:ext cx="105156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61539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CCTP V2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75520" y="6126480"/>
            <a:ext cx="105156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61539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Framer Motion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018520" y="6126480"/>
            <a:ext cx="105156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18520" y="61539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Recharts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ArcTreasury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78BFA"/>
                </a:solidFill>
                <a:latin typeface="Calibri"/>
              </a:defRPr>
            </a:pPr>
            <a:r>
              <a:t>AI-Powered Global Payouts &amp; Treasury System with USDC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 Policy engine with 5 rules and 5 decision states for compliant payouts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611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 Autonomous Copilot Agent with 3 strategies and one-click AutoPilot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023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 7-chain settlement via CCTP V2 with 42 bridge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434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 RWA treasury earning 4.8–7.5% APY on idle USDC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846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 Circle Gateway fiat on/off ramp with multi-currency FX conversion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257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 Proven on-chain: 4 real USDC transfers on ARC-TESTNET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Built with Circle Developer Tools  ·  Supported by Arc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126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